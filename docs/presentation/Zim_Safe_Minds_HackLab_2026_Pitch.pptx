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with a first-person question: What if asking for help felt like a first small step rather than a public confession?,• Zim Safe Minds is an early prototype focused on helping Zimbabwean young adults move from uncertainty to verified human care.,• This is a proposal seeking US$5,000 seed funding, not an existing medical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root cause we target for Category 1 is stigma and other social, cultural and behavioural barriers to help-seeking.,• We are not claiming to have completed a Zimbabwean prevalence study or interviews yet. These barriers are hypotheses we will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 Talk, Learn, Connect. Do not describe the current scripted conversation as GPT-powered AI.,• A user can skip Talk and move immediately to Connect. The proposed innovation is reducing friction in the human care-seeking pathway.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Live demo: https://zim-safe-minds.vercel.app/ — test connection before speaking.,• Show the three tabs, consent gate, a generic scripted chat prompt, awareness article, then preference-based connect planner.,• Actual screenshots can be added by the team after a fresh capture. These visuals are accurate simplified reconstructions, not proof of clinical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 not pretend Zimbabwe lacks counseling services. Friendship Bench is an important example of an existing independent service.,• Our differentiator is a testable first-contact bridge with user choice and verified handoffs, not replacing professionals.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numbers are target outcomes for a future approved pilot, not current traction.,• The research will also record unmet needs, failed navigation and accessibility concerns. No personal health histories should be collected during public demo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$5,000 grant supports a small validation-and-safety-focused pilot, not production-grade medical AI.,• Professional partnerships and referral operations are planned work; none are represented as signed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Budget is a proposal; grant disbursements and expenses depend on approved milestones and eligible costs.,• Note contingency $50; clinical co-design $1,000; privacy &amp; legal $800; engineering $900; partner checks $750; participant research $1,000; monitoring $500. Total $5,000.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 not fill names or roles until confirmed by your teammates. The existing four-person group is two women and two men, but exact names and responsibilities remain open.,• Close with an ask: fund an ethical youth-led 12-month pilot to test whether an approachable digital path improves first contact with qualified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If the site is unavailable, explain each feature using the reconstructed interfaces on slide 4.,• Never enter real mental-health histories during a competition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answers plain and defensible. State unverified partnerships and AI integrations are planned, not delivered.,• Avoid clinical outcomes without a legitimate study and avoid fabricated interview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zim-safe-minds.vercel.app/" TargetMode="External"/><Relationship Id="rId2" Type="http://schemas.openxmlformats.org/officeDocument/2006/relationships/hyperlink" Target="https://zim-safe-minds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914400"/>
            <a:ext cx="5212080" cy="5212080"/>
          </a:xfrm>
          <a:prstGeom prst="ellipse">
            <a:avLst/>
          </a:prstGeom>
          <a:solidFill>
            <a:srgbClr val="102A35">
              <a:alpha val="0"/>
            </a:srgbClr>
          </a:solidFill>
          <a:ln w="12700">
            <a:solidFill>
              <a:srgbClr val="30AFA9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640080"/>
            <a:ext cx="5760720" cy="5760720"/>
          </a:xfrm>
          <a:prstGeom prst="ellipse">
            <a:avLst/>
          </a:prstGeom>
          <a:solidFill>
            <a:srgbClr val="102A35">
              <a:alpha val="0"/>
            </a:srgbClr>
          </a:solidFill>
          <a:ln w="12700">
            <a:solidFill>
              <a:srgbClr val="9DEDD5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365760"/>
            <a:ext cx="6309360" cy="6309360"/>
          </a:xfrm>
          <a:prstGeom prst="ellipse">
            <a:avLst/>
          </a:prstGeom>
          <a:solidFill>
            <a:srgbClr val="102A35">
              <a:alpha val="0"/>
            </a:srgbClr>
          </a:solidFill>
          <a:ln w="12700">
            <a:solidFill>
              <a:srgbClr val="30AFA9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1440"/>
            <a:ext cx="6858000" cy="6858000"/>
          </a:xfrm>
          <a:prstGeom prst="ellipse">
            <a:avLst/>
          </a:prstGeom>
          <a:solidFill>
            <a:srgbClr val="102A35">
              <a:alpha val="0"/>
            </a:srgbClr>
          </a:solidFill>
          <a:ln w="12700">
            <a:solidFill>
              <a:srgbClr val="9DEDD5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49640" y="2148840"/>
            <a:ext cx="2606040" cy="2606040"/>
          </a:xfrm>
          <a:prstGeom prst="ellipse">
            <a:avLst/>
          </a:prstGeom>
          <a:solidFill>
            <a:srgbClr val="30AFA9">
              <a:alpha val="1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Zim-Safe-Minds/Zim-Safe-Minds/public/brand/zim-safe-minds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143000"/>
            <a:ext cx="356616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612648"/>
            <a:ext cx="3657600" cy="329184"/>
          </a:xfrm>
          <a:prstGeom prst="roundRect">
            <a:avLst>
              <a:gd name="adj" fmla="val 27778"/>
            </a:avLst>
          </a:prstGeom>
          <a:solidFill>
            <a:srgbClr val="153B47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99516"/>
            <a:ext cx="3419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ZIMBABWE YOUTH INNOVATION HACKLAB 2026</a:t>
            </a:r>
            <a:endParaRPr lang="en-US" sz="910" dirty="0"/>
          </a:p>
        </p:txBody>
      </p:sp>
      <p:sp>
        <p:nvSpPr>
          <p:cNvPr id="10" name="Text 7"/>
          <p:cNvSpPr/>
          <p:nvPr/>
        </p:nvSpPr>
        <p:spPr>
          <a:xfrm>
            <a:off x="658368" y="15544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safe space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talk.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94944" y="3456432"/>
            <a:ext cx="7406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path to real support.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13232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210" kern="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  •   LEARN   •   CONNECT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61813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1  ·  Holistic Youth Health &amp; Well-being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/  THE CHALLENGE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hardest part can be asking for help.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testing three barriers that can stop a young person before they reach support.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13232" y="3310128"/>
            <a:ext cx="3456432" cy="2322576"/>
          </a:xfrm>
          <a:prstGeom prst="roundRect">
            <a:avLst>
              <a:gd name="adj" fmla="val 47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41832" y="406908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Stigma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941832" y="460857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being judged can make opening up feel unsafe.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4370832" y="3310128"/>
            <a:ext cx="3456432" cy="2322576"/>
          </a:xfrm>
          <a:prstGeom prst="roundRect">
            <a:avLst>
              <a:gd name="adj" fmla="val 47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0AF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599432" y="406908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Uncertainty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4599432" y="460857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may not know which service is credible, affordable or approachable.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8028432" y="3310128"/>
            <a:ext cx="3456432" cy="2322576"/>
          </a:xfrm>
          <a:prstGeom prst="roundRect">
            <a:avLst>
              <a:gd name="adj" fmla="val 47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0D8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257032" y="406908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contact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257032" y="4608576"/>
            <a:ext cx="2999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finding the words to ask for a conversation can feel difficult.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731520" y="596188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i="1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hypothesis — primary research and clinical consultation still to be completed.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ONE CONNECTED FIRST STEP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simple spaces. One clear next step.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are never forced to chat with AI before exploring people and services.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13232" y="3191256"/>
            <a:ext cx="3419856" cy="2414016"/>
          </a:xfrm>
          <a:prstGeom prst="roundRect">
            <a:avLst>
              <a:gd name="adj" fmla="val 49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483864"/>
            <a:ext cx="182880" cy="182880"/>
          </a:xfrm>
          <a:prstGeom prst="ellipse">
            <a:avLst/>
          </a:prstGeom>
          <a:solidFill>
            <a:srgbClr val="9DED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TALK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softer place to start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87552" y="475488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guided reflection and grounding. Scripted demo today.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4389120" y="3191256"/>
            <a:ext cx="3419856" cy="2414016"/>
          </a:xfrm>
          <a:prstGeom prst="roundRect">
            <a:avLst>
              <a:gd name="adj" fmla="val 49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483864"/>
            <a:ext cx="182880" cy="182880"/>
          </a:xfrm>
          <a:prstGeom prst="ellipse">
            <a:avLst/>
          </a:prstGeom>
          <a:solidFill>
            <a:srgbClr val="58DAB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LEARN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without noise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63440" y="475488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awareness content and links to independent sources.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8065008" y="3191256"/>
            <a:ext cx="3419856" cy="2414016"/>
          </a:xfrm>
          <a:prstGeom prst="roundRect">
            <a:avLst>
              <a:gd name="adj" fmla="val 4924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3483864"/>
            <a:ext cx="182880" cy="182880"/>
          </a:xfrm>
          <a:prstGeom prst="ellipse">
            <a:avLst/>
          </a:prstGeom>
          <a:solidFill>
            <a:srgbClr val="F0D8A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CONNECT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39328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path to real people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339328" y="475488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care preferences, prepare a first message and explore services.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31520" y="598017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Choice and consent connect these spaces; no private chat is automatically shared.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04088" y="8869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WHAT WE HAVE ACTUALLY BUILT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271016"/>
            <a:ext cx="10698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prototype, not just a concept.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simplified illustrations of features available in the live demo; not clinical functionality.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2688336"/>
            <a:ext cx="3520440" cy="2926080"/>
          </a:xfrm>
          <a:prstGeom prst="roundRect">
            <a:avLst>
              <a:gd name="adj" fmla="val 3438"/>
            </a:avLst>
          </a:prstGeom>
          <a:solidFill>
            <a:srgbClr val="ECF8F5"/>
          </a:solidFill>
          <a:ln w="12700">
            <a:solidFill>
              <a:srgbClr val="A4D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88336"/>
            <a:ext cx="3520440" cy="338328"/>
          </a:xfrm>
          <a:prstGeom prst="roundRect">
            <a:avLst>
              <a:gd name="adj" fmla="val 21622"/>
            </a:avLst>
          </a:prstGeom>
          <a:solidFill>
            <a:srgbClr val="D0E9E3"/>
          </a:solidFill>
          <a:ln w="12700">
            <a:solidFill>
              <a:srgbClr val="D0E9E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1638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" y="3575304"/>
            <a:ext cx="2464308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8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39896"/>
            <a:ext cx="1971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on your mind?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2856" y="4270248"/>
            <a:ext cx="1971446" cy="457200"/>
          </a:xfrm>
          <a:prstGeom prst="roundRect">
            <a:avLst>
              <a:gd name="adj" fmla="val 16000"/>
            </a:avLst>
          </a:prstGeom>
          <a:solidFill>
            <a:srgbClr val="147281"/>
          </a:solidFill>
          <a:ln w="12700">
            <a:solidFill>
              <a:srgbClr val="1472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9287" y="4416552"/>
            <a:ext cx="15137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little stressed.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0392" y="5010912"/>
            <a:ext cx="3282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4D7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11496"/>
            <a:ext cx="3017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2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conversation...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334256" y="2688336"/>
            <a:ext cx="3520440" cy="2926080"/>
          </a:xfrm>
          <a:prstGeom prst="roundRect">
            <a:avLst>
              <a:gd name="adj" fmla="val 3438"/>
            </a:avLst>
          </a:prstGeom>
          <a:solidFill>
            <a:srgbClr val="ECF8F5"/>
          </a:solidFill>
          <a:ln w="12700">
            <a:solidFill>
              <a:srgbClr val="A4D9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4256" y="2688336"/>
            <a:ext cx="3520440" cy="338328"/>
          </a:xfrm>
          <a:prstGeom prst="roundRect">
            <a:avLst>
              <a:gd name="adj" fmla="val 21622"/>
            </a:avLst>
          </a:prstGeom>
          <a:solidFill>
            <a:srgbClr val="D0E9E3"/>
          </a:solidFill>
          <a:ln w="12700">
            <a:solidFill>
              <a:srgbClr val="D0E9E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9704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31638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71416" y="3593592"/>
            <a:ext cx="1337767" cy="1024128"/>
          </a:xfrm>
          <a:prstGeom prst="roundRect">
            <a:avLst>
              <a:gd name="adj" fmla="val 7143"/>
            </a:avLst>
          </a:prstGeom>
          <a:solidFill>
            <a:srgbClr val="B9DECC"/>
          </a:solidFill>
          <a:ln w="12700">
            <a:solidFill>
              <a:srgbClr val="B9DEC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831336"/>
            <a:ext cx="774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53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ALONE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5702" y="3593592"/>
            <a:ext cx="1056132" cy="1024128"/>
          </a:xfrm>
          <a:prstGeom prst="roundRect">
            <a:avLst>
              <a:gd name="adj" fmla="val 7143"/>
            </a:avLst>
          </a:prstGeom>
          <a:solidFill>
            <a:srgbClr val="D1E7EF"/>
          </a:solidFill>
          <a:ln w="12700">
            <a:solidFill>
              <a:srgbClr val="D1E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6929" y="3877056"/>
            <a:ext cx="633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RESET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71416" y="5001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3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 ·  Learn  ·  Reflect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46136" y="2688336"/>
            <a:ext cx="3520440" cy="2926080"/>
          </a:xfrm>
          <a:prstGeom prst="roundRect">
            <a:avLst>
              <a:gd name="adj" fmla="val 3438"/>
            </a:avLst>
          </a:prstGeom>
          <a:solidFill>
            <a:srgbClr val="ECF8F5"/>
          </a:solidFill>
          <a:ln w="12700">
            <a:solidFill>
              <a:srgbClr val="A4D9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46136" y="2688336"/>
            <a:ext cx="3520440" cy="338328"/>
          </a:xfrm>
          <a:prstGeom prst="roundRect">
            <a:avLst>
              <a:gd name="adj" fmla="val 21622"/>
            </a:avLst>
          </a:prstGeom>
          <a:solidFill>
            <a:srgbClr val="D0E9E3"/>
          </a:solidFill>
          <a:ln w="12700">
            <a:solidFill>
              <a:srgbClr val="D0E9E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2798064"/>
            <a:ext cx="68580" cy="68580"/>
          </a:xfrm>
          <a:prstGeom prst="ellipse">
            <a:avLst/>
          </a:prstGeom>
          <a:solidFill>
            <a:srgbClr val="65B6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31638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83296" y="3602736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4D7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73075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Format: Online / in person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083296" y="411480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4D7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42428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Cost: Free / affordable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083296" y="4626864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4D7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475488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3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Language: English / Shona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092440" y="51937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216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choose who to contact</a:t>
            </a:r>
            <a:endParaRPr lang="en-US" sz="910" dirty="0"/>
          </a:p>
        </p:txBody>
      </p:sp>
      <p:sp>
        <p:nvSpPr>
          <p:cNvPr id="44" name="Text 42">
            <a:hlinkClick r:id="rId1" tooltip=""/>
          </p:cNvPr>
          <p:cNvSpPr/>
          <p:nvPr/>
        </p:nvSpPr>
        <p:spPr>
          <a:xfrm>
            <a:off x="749808" y="5934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u="sng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DEMO  ↗</a:t>
            </a:r>
            <a:endParaRPr lang="en-US" sz="1440" dirty="0"/>
          </a:p>
        </p:txBody>
      </p:sp>
      <p:sp>
        <p:nvSpPr>
          <p:cNvPr id="45" name="Text 43">
            <a:hlinkClick r:id="rId2" tooltip=""/>
          </p:cNvPr>
          <p:cNvSpPr/>
          <p:nvPr/>
        </p:nvSpPr>
        <p:spPr>
          <a:xfrm>
            <a:off x="6629400" y="59710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u="sng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zim-safe-minds.vercel.app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DIFFERENT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OUR DISTINCTION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an “AI therapist.” A bridge to human care.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providers deliver meaningful services. We want to make approaching care less intimidating.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813816" y="3227832"/>
            <a:ext cx="173736" cy="173736"/>
          </a:xfrm>
          <a:prstGeom prst="ellipse">
            <a:avLst/>
          </a:prstGeom>
          <a:solidFill>
            <a:srgbClr val="58DAB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154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2736" y="3154680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 can skip the conversation entirely and go straight to care information.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1115568" y="3785616"/>
            <a:ext cx="10085832" cy="0"/>
          </a:xfrm>
          <a:prstGeom prst="line">
            <a:avLst/>
          </a:prstGeom>
          <a:noFill/>
          <a:ln w="11430">
            <a:solidFill>
              <a:srgbClr val="3053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4059936"/>
            <a:ext cx="173736" cy="173736"/>
          </a:xfrm>
          <a:prstGeom prst="ellipse">
            <a:avLst/>
          </a:prstGeom>
          <a:solidFill>
            <a:srgbClr val="58DAB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9867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Privacy-first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02736" y="3986784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automatic transcript forwarding. A first-contact message is controlled by the user.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1115568" y="4617720"/>
            <a:ext cx="10085832" cy="0"/>
          </a:xfrm>
          <a:prstGeom prst="line">
            <a:avLst/>
          </a:prstGeom>
          <a:noFill/>
          <a:ln w="11430">
            <a:solidFill>
              <a:srgbClr val="3053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4892040"/>
            <a:ext cx="173736" cy="173736"/>
          </a:xfrm>
          <a:prstGeom prst="ellipse">
            <a:avLst/>
          </a:prstGeom>
          <a:solidFill>
            <a:srgbClr val="58DAB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8188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accountability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02736" y="4818888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provider introductions and live appointments require qualified partners and approval.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731520" y="5797296"/>
            <a:ext cx="10698480" cy="393192"/>
          </a:xfrm>
          <a:prstGeom prst="roundRect">
            <a:avLst>
              <a:gd name="adj" fmla="val 18605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5916168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Friendship Bench is an existing independent service, not a signed project partner.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BENEFITS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DESIGNED FOR ACCESS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young people, on their terms.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research focus: consenting adults aged 18–35 in Zimbabwe.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58952" y="3209544"/>
            <a:ext cx="3429000" cy="1527048"/>
          </a:xfrm>
          <a:prstGeom prst="roundRect">
            <a:avLst>
              <a:gd name="adj" fmla="val 479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42900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spc="9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LOW-DATA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969264" y="3849624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on entry-level Android phones; low-bandwidth design is a pilot goal.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4425696" y="3209544"/>
            <a:ext cx="3429000" cy="1527048"/>
          </a:xfrm>
          <a:prstGeom prst="roundRect">
            <a:avLst>
              <a:gd name="adj" fmla="val 479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342900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spc="9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4636008" y="3849624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English, Shona and Ndebele preferences in the current navigator; clinical localization later.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092440" y="3209544"/>
            <a:ext cx="3429000" cy="1527048"/>
          </a:xfrm>
          <a:prstGeom prst="roundRect">
            <a:avLst>
              <a:gd name="adj" fmla="val 479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342900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spc="9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8302752" y="3849624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Gender-aware, disability-aware and affordability-aware research and testing.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49808" y="5093208"/>
            <a:ext cx="10707624" cy="832104"/>
          </a:xfrm>
          <a:prstGeom prst="roundRect">
            <a:avLst>
              <a:gd name="adj" fmla="val 12088"/>
            </a:avLst>
          </a:prstGeom>
          <a:solidFill>
            <a:srgbClr val="153B47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5285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GOALS, NOT CURRENT RESULTS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901184" y="526694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3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50 consenting adults   ·   Goal: 2 verified providers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PLAN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FEASIBILITY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careful 12-month pilot, not a rushed clinic.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oversight, privacy review and independent provider verification gate any real referral features.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868680" y="3227832"/>
            <a:ext cx="164592" cy="164592"/>
          </a:xfrm>
          <a:prstGeom prst="ellipse">
            <a:avLst/>
          </a:prstGeom>
          <a:solidFill>
            <a:srgbClr val="9DED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3410712"/>
            <a:ext cx="0" cy="585216"/>
          </a:xfrm>
          <a:prstGeom prst="line">
            <a:avLst/>
          </a:prstGeom>
          <a:noFill/>
          <a:ln w="25400">
            <a:solidFill>
              <a:srgbClr val="305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12724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1–2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410712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&amp; learn</a:t>
            </a:r>
            <a:endParaRPr lang="en-US" sz="1710" dirty="0"/>
          </a:p>
        </p:txBody>
      </p:sp>
      <p:sp>
        <p:nvSpPr>
          <p:cNvPr id="15" name="Text 13"/>
          <p:cNvSpPr/>
          <p:nvPr/>
        </p:nvSpPr>
        <p:spPr>
          <a:xfrm>
            <a:off x="6227064" y="3127248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Youth interviews and professional consultations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950208"/>
            <a:ext cx="164592" cy="164592"/>
          </a:xfrm>
          <a:prstGeom prst="ellipse">
            <a:avLst/>
          </a:prstGeom>
          <a:solidFill>
            <a:srgbClr val="30AFA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4133088"/>
            <a:ext cx="0" cy="585216"/>
          </a:xfrm>
          <a:prstGeom prst="line">
            <a:avLst/>
          </a:prstGeom>
          <a:noFill/>
          <a:ln w="25400">
            <a:solidFill>
              <a:srgbClr val="305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849624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3–4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410712" y="38496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safely</a:t>
            </a:r>
            <a:endParaRPr lang="en-US" sz="1710" dirty="0"/>
          </a:p>
        </p:txBody>
      </p:sp>
      <p:sp>
        <p:nvSpPr>
          <p:cNvPr id="20" name="Text 18"/>
          <p:cNvSpPr/>
          <p:nvPr/>
        </p:nvSpPr>
        <p:spPr>
          <a:xfrm>
            <a:off x="6227064" y="3849624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safeguarding, privacy and accessibility review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672584"/>
            <a:ext cx="164592" cy="164592"/>
          </a:xfrm>
          <a:prstGeom prst="ellipse">
            <a:avLst/>
          </a:prstGeom>
          <a:solidFill>
            <a:srgbClr val="30AFA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" y="4855464"/>
            <a:ext cx="0" cy="585216"/>
          </a:xfrm>
          <a:prstGeom prst="line">
            <a:avLst/>
          </a:prstGeom>
          <a:noFill/>
          <a:ln w="25400">
            <a:solidFill>
              <a:srgbClr val="3053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5720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5–8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410712" y="4572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pilot</a:t>
            </a:r>
            <a:endParaRPr lang="en-US" sz="1710" dirty="0"/>
          </a:p>
        </p:txBody>
      </p:sp>
      <p:sp>
        <p:nvSpPr>
          <p:cNvPr id="25" name="Text 23"/>
          <p:cNvSpPr/>
          <p:nvPr/>
        </p:nvSpPr>
        <p:spPr>
          <a:xfrm>
            <a:off x="6227064" y="4572000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partners; controlled adult pilot only after approval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5394960"/>
            <a:ext cx="164592" cy="164592"/>
          </a:xfrm>
          <a:prstGeom prst="ellipse">
            <a:avLst/>
          </a:prstGeom>
          <a:solidFill>
            <a:srgbClr val="30AFA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529437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9–12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410712" y="5294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&amp; refine</a:t>
            </a:r>
            <a:endParaRPr lang="en-US" sz="1710" dirty="0"/>
          </a:p>
        </p:txBody>
      </p:sp>
      <p:sp>
        <p:nvSpPr>
          <p:cNvPr id="29" name="Text 27"/>
          <p:cNvSpPr/>
          <p:nvPr/>
        </p:nvSpPr>
        <p:spPr>
          <a:xfrm>
            <a:off x="6227064" y="5294376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outcomes, costs, harms, and scale/pivot decision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623620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 AI triage, diagnoses, or professional bookings are claimed today.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REQUEST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THE ASK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US$5,000. Applied carefully.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spending allocation across research, safeguarding, accessible engineering and evaluation.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22960" y="302666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co-design &amp; safeguarding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5449824" y="306324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24" y="306324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9DEDD5"/>
          </a:solidFill>
          <a:ln w="12700">
            <a:solidFill>
              <a:srgbClr val="9DEDD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14432" y="302666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43814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 research &amp; access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5449824" y="347472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9824" y="347472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30AFA9"/>
          </a:solidFill>
          <a:ln w="12700">
            <a:solidFill>
              <a:srgbClr val="30AFA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14432" y="34381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384962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engineering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5449824" y="388620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9824" y="3886200"/>
            <a:ext cx="4238244" cy="146304"/>
          </a:xfrm>
          <a:prstGeom prst="roundRect">
            <a:avLst>
              <a:gd name="adj" fmla="val 6250"/>
            </a:avLst>
          </a:prstGeom>
          <a:solidFill>
            <a:srgbClr val="9DEDD5"/>
          </a:solidFill>
          <a:ln w="12700">
            <a:solidFill>
              <a:srgbClr val="9DEDD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14432" y="38496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426110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&amp; compliance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5449824" y="429768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4297680"/>
            <a:ext cx="3767328" cy="146304"/>
          </a:xfrm>
          <a:prstGeom prst="roundRect">
            <a:avLst>
              <a:gd name="adj" fmla="val 6250"/>
            </a:avLst>
          </a:prstGeom>
          <a:solidFill>
            <a:srgbClr val="30AFA9"/>
          </a:solidFill>
          <a:ln w="12700">
            <a:solidFill>
              <a:srgbClr val="30AFA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14432" y="4261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67258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checks &amp; outreach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5449824" y="470916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9824" y="4709160"/>
            <a:ext cx="3531870" cy="146304"/>
          </a:xfrm>
          <a:prstGeom prst="roundRect">
            <a:avLst>
              <a:gd name="adj" fmla="val 6250"/>
            </a:avLst>
          </a:prstGeom>
          <a:solidFill>
            <a:srgbClr val="9DEDD5"/>
          </a:solidFill>
          <a:ln w="12700">
            <a:solidFill>
              <a:srgbClr val="9DEDD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14432" y="46725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508406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&amp; evaluation</a:t>
            </a:r>
            <a:endParaRPr lang="en-US" sz="1210" dirty="0"/>
          </a:p>
        </p:txBody>
      </p:sp>
      <p:sp>
        <p:nvSpPr>
          <p:cNvPr id="32" name="Shape 30"/>
          <p:cNvSpPr/>
          <p:nvPr/>
        </p:nvSpPr>
        <p:spPr>
          <a:xfrm>
            <a:off x="5449824" y="512064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9824" y="5120640"/>
            <a:ext cx="2354580" cy="146304"/>
          </a:xfrm>
          <a:prstGeom prst="roundRect">
            <a:avLst>
              <a:gd name="adj" fmla="val 6250"/>
            </a:avLst>
          </a:prstGeom>
          <a:solidFill>
            <a:srgbClr val="30AFA9"/>
          </a:solidFill>
          <a:ln w="12700">
            <a:solidFill>
              <a:srgbClr val="30AFA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508406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5495544"/>
            <a:ext cx="4425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Contingency</a:t>
            </a:r>
            <a:endParaRPr lang="en-US" sz="1210" dirty="0"/>
          </a:p>
        </p:txBody>
      </p:sp>
      <p:sp>
        <p:nvSpPr>
          <p:cNvPr id="36" name="Shape 34"/>
          <p:cNvSpPr/>
          <p:nvPr/>
        </p:nvSpPr>
        <p:spPr>
          <a:xfrm>
            <a:off x="5449824" y="5532120"/>
            <a:ext cx="4709160" cy="146304"/>
          </a:xfrm>
          <a:prstGeom prst="roundRect">
            <a:avLst>
              <a:gd name="adj" fmla="val 6250"/>
            </a:avLst>
          </a:prstGeom>
          <a:solidFill>
            <a:srgbClr val="153B47"/>
          </a:solidFill>
          <a:ln w="12700">
            <a:solidFill>
              <a:srgbClr val="153B4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24" y="5532120"/>
            <a:ext cx="235458" cy="146304"/>
          </a:xfrm>
          <a:prstGeom prst="roundRect">
            <a:avLst>
              <a:gd name="adj" fmla="val 6250"/>
            </a:avLst>
          </a:prstGeom>
          <a:solidFill>
            <a:srgbClr val="9DEDD5"/>
          </a:solidFill>
          <a:ln w="12700">
            <a:solidFill>
              <a:srgbClr val="9DEDD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14432" y="54955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" y="6108192"/>
            <a:ext cx="10570464" cy="0"/>
          </a:xfrm>
          <a:prstGeom prst="line">
            <a:avLst/>
          </a:prstGeom>
          <a:noFill/>
          <a:ln w="12700">
            <a:solidFill>
              <a:srgbClr val="3053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" y="62179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REQUEST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20656" y="618134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4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$5,000</a:t>
            </a:r>
            <a:endParaRPr lang="en-US" sz="1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AND CLOSE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22376" y="8321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spc="16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/  TEAM-LED INNOVATION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685800" y="1335024"/>
            <a:ext cx="10972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prototype.</a:t>
            </a:r>
            <a:endParaRPr lang="en-US" sz="3650" dirty="0"/>
          </a:p>
          <a:p>
            <a:pPr indent="0" marL="0">
              <a:buNone/>
            </a:pPr>
            <a:r>
              <a:rPr lang="en-US" sz="365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 ready to shape what’s next.</a:t>
            </a:r>
            <a:endParaRPr lang="en-US" sz="3650" dirty="0"/>
          </a:p>
        </p:txBody>
      </p:sp>
      <p:sp>
        <p:nvSpPr>
          <p:cNvPr id="10" name="Shape 8"/>
          <p:cNvSpPr/>
          <p:nvPr/>
        </p:nvSpPr>
        <p:spPr>
          <a:xfrm>
            <a:off x="740664" y="3136392"/>
            <a:ext cx="5184648" cy="731520"/>
          </a:xfrm>
          <a:prstGeom prst="roundRect">
            <a:avLst>
              <a:gd name="adj" fmla="val 1000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41832" y="35295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confirmed by the team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2784" y="3136392"/>
            <a:ext cx="5184648" cy="731520"/>
          </a:xfrm>
          <a:prstGeom prst="roundRect">
            <a:avLst>
              <a:gd name="adj" fmla="val 1000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LEAD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473952" y="35295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Andrew Hama Mutamiri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" y="4041648"/>
            <a:ext cx="5184648" cy="731520"/>
          </a:xfrm>
          <a:prstGeom prst="roundRect">
            <a:avLst>
              <a:gd name="adj" fmla="val 1000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178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WELLBEING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41832" y="443484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to choose role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2784" y="4041648"/>
            <a:ext cx="5184648" cy="731520"/>
          </a:xfrm>
          <a:prstGeom prst="roundRect">
            <a:avLst>
              <a:gd name="adj" fmla="val 10000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178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 / OPERATIONS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473952" y="443484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to choose 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Talk. Learn. Connect.  →  Real care.</a:t>
            </a:r>
            <a:endParaRPr lang="en-US" sz="2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BACKUP: DEMO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8DA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 /  DEMO SEQUENCE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1216152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41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minutes. One believable story.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4944" y="25328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host should have the live URL loaded, plus this deck available offline.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0762488" cy="557784"/>
          </a:xfrm>
          <a:prstGeom prst="roundRect">
            <a:avLst>
              <a:gd name="adj" fmla="val 9836"/>
            </a:avLst>
          </a:prstGeom>
          <a:solidFill>
            <a:srgbClr val="153B47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163824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00:00–00:35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505456" y="316382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3163824"/>
            <a:ext cx="7351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original Afterglow visuals; open consent-gated scripted chat.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31520" y="3721608"/>
            <a:ext cx="10762488" cy="557784"/>
          </a:xfrm>
          <a:prstGeom prst="roundRect">
            <a:avLst>
              <a:gd name="adj" fmla="val 9836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67912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00:35–01:15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2505456" y="38679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58768" y="3867912"/>
            <a:ext cx="7351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 topic, open an awareness card, show the source.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1520" y="4425696"/>
            <a:ext cx="10762488" cy="557784"/>
          </a:xfrm>
          <a:prstGeom prst="roundRect">
            <a:avLst>
              <a:gd name="adj" fmla="val 9836"/>
            </a:avLst>
          </a:prstGeom>
          <a:solidFill>
            <a:srgbClr val="153B47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572000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01:15–02:30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2505456" y="45720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4572000"/>
            <a:ext cx="7351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preferences and copy a sample first-contact inquiry.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31520" y="5129784"/>
            <a:ext cx="10762488" cy="557784"/>
          </a:xfrm>
          <a:prstGeom prst="roundRect">
            <a:avLst>
              <a:gd name="adj" fmla="val 9836"/>
            </a:avLst>
          </a:prstGeom>
          <a:solidFill>
            <a:srgbClr val="102A35"/>
          </a:solidFill>
          <a:ln w="12700">
            <a:solidFill>
              <a:srgbClr val="3053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527608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02:30–03:00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2505456" y="527608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58768" y="5276088"/>
            <a:ext cx="7351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independent service information; recap ethics and grant use.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DABB"/>
          </a:solidFill>
          <a:ln w="12700">
            <a:solidFill>
              <a:srgbClr val="58DAB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spc="30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ZIM SAFE MINDS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9144000" y="310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spc="180" kern="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BACKUP: JUDGE Q&amp;A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6455664"/>
            <a:ext cx="11000232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spc="120" kern="0" dirty="0">
                <a:solidFill>
                  <a:srgbClr val="7B9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HACKLAB 2026  /  CATEGORY 01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515600" y="65562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/  11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04088" y="85039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DE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 /  DIFFICULT QUESTIONS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271016"/>
            <a:ext cx="10698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we should welcome.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32104" y="245973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ChatGPT for therapy?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5202936" y="2459736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No: the current conversation is scripted; any future AI requires clinical oversight and safety validation.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45536"/>
            <a:ext cx="10515600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3467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not just use Friendship Bench?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5202936" y="3346704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an independent existing service. We will test the first-contact navigation gap without duplicating care.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032504"/>
            <a:ext cx="10515600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42336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you have signed provider partners?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5202936" y="4233672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yet. Credential checks, agreements and approvals are explicit pilot milestones.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10515600" cy="0"/>
          </a:xfrm>
          <a:prstGeom prst="line">
            <a:avLst/>
          </a:prstGeom>
          <a:noFill/>
          <a:ln w="10160">
            <a:solidFill>
              <a:srgbClr val="3053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51206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3FC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success look like?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5202936" y="5120640"/>
            <a:ext cx="6080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2BE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opt-in contact with appropriate care; include drop-offs and safety incidents, not chatbot minutes.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Zim Safe Minds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 Safe Minds — A safe space to talk. A path to real support.</dc:title>
  <dc:subject>Zimbabwe Youth Innovation HackLab 2026 pitch: Category 1</dc:subject>
  <dc:creator>Zim Safe Minds project team</dc:creator>
  <cp:lastModifiedBy>Zim Safe Minds project team</cp:lastModifiedBy>
  <cp:revision>1</cp:revision>
  <dcterms:created xsi:type="dcterms:W3CDTF">2026-10-13T17:08:13Z</dcterms:created>
  <dcterms:modified xsi:type="dcterms:W3CDTF">2026-10-13T17:08:13Z</dcterms:modified>
</cp:coreProperties>
</file>